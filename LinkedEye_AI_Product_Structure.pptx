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016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016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8016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8016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8016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8016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8016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8016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016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8016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024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2024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024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2024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2024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2024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2024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024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024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6032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6032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032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6032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6032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6032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6032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6032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6032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6032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6032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040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0040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0040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0040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0040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040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84048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84048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4048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84048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84048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84048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84048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84048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84048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84048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84048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84048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48056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48056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48056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48056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48056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48056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48056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48056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48056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48056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48056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48056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12064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12064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12064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12064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12064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12064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12064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2064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2064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12064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12064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12064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76072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76072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76072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76072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6072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76072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76072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76072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76072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76072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76072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76072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40080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40080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40080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40080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40080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40080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40080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0080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0080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40080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40080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40080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04088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04088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04088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04088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04088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04088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04088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04088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04088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04088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04088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04088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68096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68096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68096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68096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68096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68096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68096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68096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68096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68096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68096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68096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32104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32104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32104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32104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32104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32104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32104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32104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32104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32104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32104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96112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96112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96112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96112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96112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96112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96112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96112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96112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96112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96112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96112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60120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60120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60120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60120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60120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60120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60120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60120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60120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60120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60120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60120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24128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24128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24128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24128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24128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24128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24128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24128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24128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24128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24128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24128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88136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88136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88136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88136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88136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88136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88136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88136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88136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88136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88136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88136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152144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152144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152144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52144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152144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52144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152144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52144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52144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152144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152144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152144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216152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216152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216152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216152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216152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216152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216152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216152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216152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216152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216152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216152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365760" y="1371600"/>
            <a:ext cx="6858000" cy="2560320"/>
          </a:xfrm>
          <a:prstGeom prst="rect">
            <a:avLst/>
          </a:prstGeom>
          <a:solidFill>
            <a:srgbClr val="0D1F3C">
              <a:alpha val="8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44" name="Text 242"/>
          <p:cNvSpPr/>
          <p:nvPr/>
        </p:nvSpPr>
        <p:spPr>
          <a:xfrm>
            <a:off x="640080" y="1600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LinkedEye AI</a:t>
            </a:r>
            <a:endParaRPr lang="en-US" sz="5200" dirty="0"/>
          </a:p>
        </p:txBody>
      </p:sp>
      <p:sp>
        <p:nvSpPr>
          <p:cNvPr id="245" name="Text 243"/>
          <p:cNvSpPr/>
          <p:nvPr/>
        </p:nvSpPr>
        <p:spPr>
          <a:xfrm>
            <a:off x="64008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Intelligence Platform</a:t>
            </a:r>
            <a:endParaRPr lang="en-US" sz="2000" dirty="0"/>
          </a:p>
        </p:txBody>
      </p:sp>
      <p:sp>
        <p:nvSpPr>
          <p:cNvPr id="246" name="Text 244"/>
          <p:cNvSpPr/>
          <p:nvPr/>
        </p:nvSpPr>
        <p:spPr>
          <a:xfrm>
            <a:off x="6400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Structure · Data Flow · MCP Connectivity · Deployment</a:t>
            </a:r>
            <a:endParaRPr lang="en-US" sz="1200" dirty="0"/>
          </a:p>
        </p:txBody>
      </p:sp>
      <p:sp>
        <p:nvSpPr>
          <p:cNvPr id="247" name="Shape 245"/>
          <p:cNvSpPr/>
          <p:nvPr/>
        </p:nvSpPr>
        <p:spPr>
          <a:xfrm>
            <a:off x="7772400" y="914400"/>
            <a:ext cx="393192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48" name="Shape 246"/>
          <p:cNvSpPr/>
          <p:nvPr/>
        </p:nvSpPr>
        <p:spPr>
          <a:xfrm>
            <a:off x="7772400" y="914400"/>
            <a:ext cx="73152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7955280" y="960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800" dirty="0"/>
          </a:p>
        </p:txBody>
      </p:sp>
      <p:sp>
        <p:nvSpPr>
          <p:cNvPr id="250" name="Text 248"/>
          <p:cNvSpPr/>
          <p:nvPr/>
        </p:nvSpPr>
        <p:spPr>
          <a:xfrm>
            <a:off x="79552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FastMCP + Next.js 15</a:t>
            </a:r>
            <a:endParaRPr lang="en-US" sz="1000" dirty="0"/>
          </a:p>
        </p:txBody>
      </p:sp>
      <p:sp>
        <p:nvSpPr>
          <p:cNvPr id="251" name="Shape 249"/>
          <p:cNvSpPr/>
          <p:nvPr/>
        </p:nvSpPr>
        <p:spPr>
          <a:xfrm>
            <a:off x="7772400" y="2011680"/>
            <a:ext cx="393192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2" name="Shape 250"/>
          <p:cNvSpPr/>
          <p:nvPr/>
        </p:nvSpPr>
        <p:spPr>
          <a:xfrm>
            <a:off x="7772400" y="201168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795528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254" name="Text 252"/>
          <p:cNvSpPr/>
          <p:nvPr/>
        </p:nvSpPr>
        <p:spPr>
          <a:xfrm>
            <a:off x="79552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Elasticsearch · Loki · K8s</a:t>
            </a:r>
            <a:endParaRPr lang="en-US" sz="1000" dirty="0"/>
          </a:p>
        </p:txBody>
      </p:sp>
      <p:sp>
        <p:nvSpPr>
          <p:cNvPr id="255" name="Shape 253"/>
          <p:cNvSpPr/>
          <p:nvPr/>
        </p:nvSpPr>
        <p:spPr>
          <a:xfrm>
            <a:off x="7772400" y="3108960"/>
            <a:ext cx="393192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6" name="Shape 254"/>
          <p:cNvSpPr/>
          <p:nvPr/>
        </p:nvSpPr>
        <p:spPr>
          <a:xfrm>
            <a:off x="7772400" y="310896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795528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INTERFACES</a:t>
            </a:r>
            <a:endParaRPr lang="en-US" sz="800" dirty="0"/>
          </a:p>
        </p:txBody>
      </p:sp>
      <p:sp>
        <p:nvSpPr>
          <p:cNvPr id="258" name="Text 256"/>
          <p:cNvSpPr/>
          <p:nvPr/>
        </p:nvSpPr>
        <p:spPr>
          <a:xfrm>
            <a:off x="795528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+ Slack Bot</a:t>
            </a:r>
            <a:endParaRPr lang="en-US" sz="1000" dirty="0"/>
          </a:p>
        </p:txBody>
      </p:sp>
      <p:sp>
        <p:nvSpPr>
          <p:cNvPr id="259" name="Shape 257"/>
          <p:cNvSpPr/>
          <p:nvPr/>
        </p:nvSpPr>
        <p:spPr>
          <a:xfrm>
            <a:off x="7772400" y="4206240"/>
            <a:ext cx="393192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0" name="Shape 258"/>
          <p:cNvSpPr/>
          <p:nvPr/>
        </p:nvSpPr>
        <p:spPr>
          <a:xfrm>
            <a:off x="7772400" y="420624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7955280" y="4251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262" name="Text 260"/>
          <p:cNvSpPr/>
          <p:nvPr/>
        </p:nvSpPr>
        <p:spPr>
          <a:xfrm>
            <a:off x="795528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· Docker · Helm</a:t>
            </a:r>
            <a:endParaRPr lang="en-US" sz="1000" dirty="0"/>
          </a:p>
        </p:txBody>
      </p:sp>
      <p:sp>
        <p:nvSpPr>
          <p:cNvPr id="263" name="Shape 26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D1F3C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Santhira Technologies  ·  linkedeye.santhira.io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WHAT LINKEDEYE AI DOES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"Ask your infrastructure a question in plain English. Get a real answer with live metrics, log evidence, and an exact fix — in 3 seconds."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743200" cy="237744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Grafana-Style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Latency,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Size charts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inline in chat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874520"/>
            <a:ext cx="2743200" cy="2377440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87452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Datadog-Style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154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Elasticsearch 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logs with filters,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level colors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874520"/>
            <a:ext cx="2743200" cy="2377440"/>
          </a:xfrm>
          <a:prstGeom prst="rect">
            <a:avLst/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87452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5508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Root Cause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154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LLM reads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and explains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cause + fix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0" y="1874520"/>
            <a:ext cx="2743200" cy="2377440"/>
          </a:xfrm>
          <a:prstGeom prst="rect">
            <a:avLst/>
          </a:prstGeom>
          <a:solidFill>
            <a:srgbClr val="0D1F3C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0" y="187452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8116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MCP-Powered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Connectivity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81160" y="3154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MCP servers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data source — add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ones without rewrites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434840"/>
            <a:ext cx="11430000" cy="594360"/>
          </a:xfrm>
          <a:prstGeom prst="rect">
            <a:avLst/>
          </a:prstGeom>
          <a:solidFill>
            <a:srgbClr val="0D1F3C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Hallucination — LLM only reads fetched data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83280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On-Premise Deployable — data never leaves your server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Stack Agnostic — works with your existing tools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052560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Source MCP Connectors — free community tools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Platform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THREE-LAYER DESIGN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1612880" cy="1234440"/>
          </a:xfrm>
          <a:prstGeom prst="rect">
            <a:avLst/>
          </a:prstGeom>
          <a:solidFill>
            <a:srgbClr val="0D1F3C"/>
          </a:solidFill>
          <a:ln w="15240">
            <a:solidFill>
              <a:srgbClr val="1E40A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161288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 — INTERFACES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99032"/>
            <a:ext cx="265176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63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Chat UI (Next.js 15)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399032"/>
            <a:ext cx="265176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463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 Bot (Bolt)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1399032"/>
            <a:ext cx="265176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1463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LinkedEye Dashboard Panel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823960" y="1399032"/>
            <a:ext cx="265176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7112" y="1463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 / WebSocket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11612880" cy="1234440"/>
          </a:xfrm>
          <a:prstGeom prst="rect">
            <a:avLst/>
          </a:prstGeom>
          <a:solidFill>
            <a:srgbClr val="0D1F3C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31720"/>
            <a:ext cx="116128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41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 — AI INTELLIGENCE ENGINE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70632"/>
            <a:ext cx="210312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8346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Orchestrator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88336" y="2770632"/>
            <a:ext cx="210312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28346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 Classifier Node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19472" y="2770632"/>
            <a:ext cx="210312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28346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Tool Executor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50608" y="2770632"/>
            <a:ext cx="210312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28346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 Builder Node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2770632"/>
            <a:ext cx="210312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54896" y="28346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Synthesizer (LLM)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11612880" cy="1234440"/>
          </a:xfrm>
          <a:prstGeom prst="rect">
            <a:avLst/>
          </a:prstGeom>
          <a:solidFill>
            <a:srgbClr val="0D1F3C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703320"/>
            <a:ext cx="116128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13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 — DATA SOURCES (MCP SERVERS)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142232"/>
            <a:ext cx="173736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2062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prometheus-mcp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316480" y="4142232"/>
            <a:ext cx="173736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89632" y="42062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elasticsearch-mcp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75760" y="4142232"/>
            <a:ext cx="173736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48912" y="42062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loki-mcp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4142232"/>
            <a:ext cx="173736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08192" y="42062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kubernetes-mcp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894320" y="4142232"/>
            <a:ext cx="173736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67472" y="42062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linkedeye-db-mcp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753600" y="4142232"/>
            <a:ext cx="173736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26752" y="42062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runbook-mcp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0760" y="2212848"/>
            <a:ext cx="0" cy="13716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6080760" y="3584448"/>
            <a:ext cx="0" cy="13716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274320" y="5074920"/>
            <a:ext cx="11612880" cy="1417320"/>
          </a:xfrm>
          <a:prstGeom prst="rect">
            <a:avLst/>
          </a:prstGeom>
          <a:solidFill>
            <a:srgbClr val="060D18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5120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 DATA SOURCES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5394960"/>
            <a:ext cx="1737360" cy="822960"/>
          </a:xfrm>
          <a:prstGeom prst="rect">
            <a:avLst/>
          </a:prstGeom>
          <a:solidFill>
            <a:srgbClr val="0D1F3C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5440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:9090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325880" y="5074920"/>
            <a:ext cx="0" cy="-118872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2377440" y="5394960"/>
            <a:ext cx="1737360" cy="822960"/>
          </a:xfrm>
          <a:prstGeom prst="rect">
            <a:avLst/>
          </a:prstGeom>
          <a:solidFill>
            <a:srgbClr val="0D1F3C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23160" y="5440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:9200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46120" y="5074920"/>
            <a:ext cx="0" cy="-11887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4297680" y="5394960"/>
            <a:ext cx="1737360" cy="822960"/>
          </a:xfrm>
          <a:prstGeom prst="rect">
            <a:avLst/>
          </a:prstGeom>
          <a:solidFill>
            <a:srgbClr val="0D1F3C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43400" y="5440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Loki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:3100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166360" y="5074920"/>
            <a:ext cx="0" cy="-118872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6217920" y="5394960"/>
            <a:ext cx="1737360" cy="822960"/>
          </a:xfrm>
          <a:prstGeom prst="rect">
            <a:avLst/>
          </a:prstGeom>
          <a:solidFill>
            <a:srgbClr val="0D1F3C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63640" y="5440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:6443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086600" y="5074920"/>
            <a:ext cx="0" cy="-118872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8138160" y="5394960"/>
            <a:ext cx="1737360" cy="822960"/>
          </a:xfrm>
          <a:prstGeom prst="rect">
            <a:avLst/>
          </a:prstGeom>
          <a:solidFill>
            <a:srgbClr val="0D1F3C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83880" y="5440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:5432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006840" y="5074920"/>
            <a:ext cx="0" cy="-118872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arrow"/>
          </a:ln>
        </p:spPr>
      </p:sp>
      <p:sp>
        <p:nvSpPr>
          <p:cNvPr id="62" name="Shape 60"/>
          <p:cNvSpPr/>
          <p:nvPr/>
        </p:nvSpPr>
        <p:spPr>
          <a:xfrm>
            <a:off x="10058400" y="5394960"/>
            <a:ext cx="1737360" cy="822960"/>
          </a:xfrm>
          <a:prstGeom prst="rect">
            <a:avLst/>
          </a:prstGeom>
          <a:solidFill>
            <a:srgbClr val="0D1F3C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104120" y="5440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pgVector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0927080" y="5074920"/>
            <a:ext cx="0" cy="-11887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arrow"/>
          </a:ln>
        </p:spPr>
      </p:sp>
      <p:sp>
        <p:nvSpPr>
          <p:cNvPr id="65" name="Text 63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SIX MODULAR MCP SERVERS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749040" cy="2606040"/>
          </a:xfrm>
          <a:prstGeom prst="rect">
            <a:avLst/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37490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37490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72694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61288"/>
            <a:ext cx="6355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91840" y="11612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389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prometheus-mcp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719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get_cpu_usage(server, duration)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get_memory_usage(server, duration)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304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get_pod_restarts(ns, threshold)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596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get_oms_latency(exchange, pct)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get_queue_metrics(exchange, line)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37490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832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Prometheus HTTP API :9090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251960" y="1005840"/>
            <a:ext cx="3749040" cy="2606040"/>
          </a:xfrm>
          <a:prstGeom prst="rect">
            <a:avLst/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1005840"/>
            <a:ext cx="3749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1078992"/>
            <a:ext cx="37490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1143000"/>
            <a:ext cx="80467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11612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OMS LOGS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269480" y="11612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43400" y="1389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elasticsearch-mcp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43400" y="1719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get_order_by_id(order_id)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34340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get_order_failures(duration)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43400" y="2304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get_trade_analytics(broker, date)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343400" y="2596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get_failure_patterns(exchange, window)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51960" y="3337560"/>
            <a:ext cx="37490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33832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Elasticsearch :9200 / oms-logs-*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229600" y="1005840"/>
            <a:ext cx="3749040" cy="2606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29600" y="1005840"/>
            <a:ext cx="37490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1078992"/>
            <a:ext cx="37490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1143000"/>
            <a:ext cx="80467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11612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LOGS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47120" y="11612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21040" y="1389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loki-mcp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21040" y="1719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get_pod_logs(pod, level, limit)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32104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get_app_errors(service, duration)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321040" y="2304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get_nginx_errors(service)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321040" y="2596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get_crash_logs(pod, since)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229600" y="3337560"/>
            <a:ext cx="37490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0" y="33832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Loki HTTP API :3100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3840480"/>
            <a:ext cx="3749040" cy="26060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3840480"/>
            <a:ext cx="374904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3913632"/>
            <a:ext cx="37490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3977640"/>
            <a:ext cx="416052" cy="2011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995928"/>
            <a:ext cx="3246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291840" y="3995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65760" y="42245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kubernetes-mcp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" y="4553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get_pod_status(namespace)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5760" y="4846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get_k8s_events(pod)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65760" y="5138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get_node_health()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65760" y="5431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get_deployment_info(name)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6172200"/>
            <a:ext cx="37490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62179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K8s API Server :6443 / kubeconfig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251960" y="3840480"/>
            <a:ext cx="3749040" cy="2606040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251960" y="3840480"/>
            <a:ext cx="3749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51960" y="3913632"/>
            <a:ext cx="37490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43400" y="3977640"/>
            <a:ext cx="80467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0" y="399592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 DB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269480" y="3995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343400" y="42245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linkedeye-db-mcp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343400" y="4553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get_device_health(site)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343400" y="4846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get_url_ssl_status(url)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343400" y="5138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get_open_tickets()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343400" y="5431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get_site_summary(site)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343400" y="5724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get_hardware_status(host)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251960" y="6172200"/>
            <a:ext cx="37490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43400" y="62179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PostgreSQL :5432 / linkedeye DB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229600" y="3840480"/>
            <a:ext cx="3749040" cy="2606040"/>
          </a:xfrm>
          <a:prstGeom prst="rect">
            <a:avLst/>
          </a:prstGeom>
          <a:solidFill>
            <a:srgbClr val="0D1F3C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8229600" y="3840480"/>
            <a:ext cx="37490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229600" y="3913632"/>
            <a:ext cx="37490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21040" y="3977640"/>
            <a:ext cx="41605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366760" y="3995928"/>
            <a:ext cx="3246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1247120" y="3995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:8006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321040" y="42245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runbook-mcp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8321040" y="4553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search_runbook_rag(query, top_k)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8321040" y="4846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get_sop_by_issue(issue_type)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321040" y="5138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ingest_new_runbook(file_path)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229600" y="6172200"/>
            <a:ext cx="37490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21040" y="62179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pgVector / Qdrant — embedded docs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Query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END-TO-END INTELLIGENCE PIPELINE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3182112"/>
            <a:ext cx="1161288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74320" y="2560320"/>
            <a:ext cx="1645920" cy="1325880"/>
          </a:xfrm>
          <a:prstGeom prst="rect">
            <a:avLst/>
          </a:prstGeom>
          <a:solidFill>
            <a:srgbClr val="0D1F3C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2560320"/>
            <a:ext cx="1645920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70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30358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3547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/ Slack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38528" y="3218688"/>
            <a:ext cx="12801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194560" y="2560320"/>
            <a:ext cx="1645920" cy="13258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94560" y="2560320"/>
            <a:ext cx="1645920" cy="640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670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40280" y="30358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40280" y="3547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/chat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58768" y="3218688"/>
            <a:ext cx="128016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114800" y="2560320"/>
            <a:ext cx="1737360" cy="132588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2560320"/>
            <a:ext cx="17373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670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60520" y="3035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6052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type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870448" y="3218688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126480" y="2560320"/>
            <a:ext cx="1737360" cy="1325880"/>
          </a:xfrm>
          <a:prstGeom prst="rect">
            <a:avLst/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560320"/>
            <a:ext cx="1737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670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72200" y="3035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TOOL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7220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data sources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82128" y="3218688"/>
            <a:ext cx="128016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8138160" y="2560320"/>
            <a:ext cx="1737360" cy="1325880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2560320"/>
            <a:ext cx="17373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23960" y="2670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83880" y="3035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8388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MCP calls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893808" y="3218688"/>
            <a:ext cx="128016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10149840" y="2560320"/>
            <a:ext cx="1737360" cy="1325880"/>
          </a:xfrm>
          <a:prstGeom prst="rect">
            <a:avLst/>
          </a:prstGeom>
          <a:solidFill>
            <a:srgbClr val="0D1F3C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149840" y="2560320"/>
            <a:ext cx="17373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35640" y="2670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95560" y="3035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SYNTHESIZER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19556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real data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1480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 TYPES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14800" y="1234440"/>
            <a:ext cx="882396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0520" y="1252728"/>
            <a:ext cx="790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POD_CRASH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806440" y="1234440"/>
            <a:ext cx="882396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52160" y="1252728"/>
            <a:ext cx="790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API_ERROR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498080" y="1234440"/>
            <a:ext cx="726948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43800" y="1252728"/>
            <a:ext cx="6355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9189720" y="1234440"/>
            <a:ext cx="1271016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35440" y="125272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ORDER_ANALYSIS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14800" y="1527048"/>
            <a:ext cx="726948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60520" y="1545336"/>
            <a:ext cx="6355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URL_SSL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806440" y="1527048"/>
            <a:ext cx="804672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15453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498080" y="1527048"/>
            <a:ext cx="804672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43800" y="15453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APP_LOGS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9189720" y="1527048"/>
            <a:ext cx="804672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35440" y="15453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7432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COMPONENTS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4407408"/>
            <a:ext cx="2194560" cy="1600200"/>
          </a:xfrm>
          <a:prstGeom prst="rect">
            <a:avLst/>
          </a:prstGeom>
          <a:solidFill>
            <a:srgbClr val="0D1F3C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65760" y="4498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Grafana Chart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65760" y="48920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JSON → rendered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in chat bubble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651760" y="4407408"/>
            <a:ext cx="2194560" cy="1600200"/>
          </a:xfrm>
          <a:prstGeom prst="rect">
            <a:avLst/>
          </a:prstGeom>
          <a:solidFill>
            <a:srgbClr val="0D1F3C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2743200" y="4498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Datadog Logs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743200" y="48920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table with filters,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badges, citations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029200" y="4407408"/>
            <a:ext cx="2194560" cy="1600200"/>
          </a:xfrm>
          <a:prstGeom prst="rect">
            <a:avLst/>
          </a:prstGeom>
          <a:solidFill>
            <a:srgbClr val="0D1F3C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120640" y="4498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Severity Badge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120640" y="48920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WARNING /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plain English summary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406640" y="4407408"/>
            <a:ext cx="2194560" cy="1600200"/>
          </a:xfrm>
          <a:prstGeom prst="rect">
            <a:avLst/>
          </a:prstGeom>
          <a:solidFill>
            <a:srgbClr val="0D1F3C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7498080" y="4498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Fix Command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498080" y="48920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kubectl / shell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to resolve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784080" y="4407408"/>
            <a:ext cx="2194560" cy="1600200"/>
          </a:xfrm>
          <a:prstGeom prst="rect">
            <a:avLst/>
          </a:prstGeom>
          <a:solidFill>
            <a:srgbClr val="0D1F3C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9875520" y="4498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📎 Source Citations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875520" y="48920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index / metric 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line was used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Connectivity 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ALL INTEGRATIONS &amp; DATA FLOWS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0" y="2651760"/>
            <a:ext cx="3017520" cy="1508760"/>
          </a:xfrm>
          <a:prstGeom prst="rect">
            <a:avLst/>
          </a:prstGeom>
          <a:solidFill>
            <a:srgbClr val="0D1F3C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9496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6177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AI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0" y="3566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:8000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011680" cy="731520"/>
          </a:xfrm>
          <a:prstGeom prst="rect">
            <a:avLst/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05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:9090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170432"/>
            <a:ext cx="882396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188720"/>
            <a:ext cx="790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:8001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286000" y="1280160"/>
            <a:ext cx="224028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ysDash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74320" y="2103120"/>
            <a:ext cx="2011680" cy="731520"/>
          </a:xfrm>
          <a:prstGeom prst="rect">
            <a:avLst/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:9200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31720" y="2359152"/>
            <a:ext cx="882396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377440"/>
            <a:ext cx="790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:8002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0" y="2468880"/>
            <a:ext cx="224028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ysDash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274320" y="3291840"/>
            <a:ext cx="2011680" cy="73152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Loki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:3100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3547872"/>
            <a:ext cx="882396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3566160"/>
            <a:ext cx="790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:8003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0" y="3657600"/>
            <a:ext cx="224028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ysDash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274320" y="4480560"/>
            <a:ext cx="2011680" cy="7315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:6443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31720" y="4736592"/>
            <a:ext cx="882396" cy="2011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4754880"/>
            <a:ext cx="790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:8004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286000" y="4846320"/>
            <a:ext cx="2240280" cy="0"/>
          </a:xfrm>
          <a:prstGeom prst="line">
            <a:avLst/>
          </a:prstGeom>
          <a:noFill/>
          <a:ln w="15240">
            <a:solidFill>
              <a:srgbClr val="1E40AF"/>
            </a:solidFill>
            <a:prstDash val="sysDash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9692640" y="914400"/>
            <a:ext cx="2194560" cy="7315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84080" y="1005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Chat UI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9520" y="1280160"/>
            <a:ext cx="2103120" cy="0"/>
          </a:xfrm>
          <a:prstGeom prst="line">
            <a:avLst/>
          </a:prstGeom>
          <a:noFill/>
          <a:ln w="15240">
            <a:solidFill>
              <a:srgbClr val="1E40AF"/>
            </a:solidFill>
            <a:prstDash val="sysDash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9692640" y="2103120"/>
            <a:ext cx="2194560" cy="731520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78408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 Bot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Bolt Python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89520" y="2468880"/>
            <a:ext cx="210312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ysDash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9692640" y="3291840"/>
            <a:ext cx="2194560" cy="73152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784080" y="3383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 Charts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(Recharts)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589520" y="3657600"/>
            <a:ext cx="210312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ysDash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9692640" y="4480560"/>
            <a:ext cx="2194560" cy="731520"/>
          </a:xfrm>
          <a:prstGeom prst="rect">
            <a:avLst/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784080" y="4572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Datadog Logs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(Log Viewer)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589520" y="4846320"/>
            <a:ext cx="21031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ysDash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1371600" y="5577840"/>
            <a:ext cx="2011680" cy="822960"/>
          </a:xfrm>
          <a:prstGeom prst="rect">
            <a:avLst/>
          </a:prstGeom>
          <a:solidFill>
            <a:srgbClr val="0D1F3C"/>
          </a:solidFill>
          <a:ln w="9525">
            <a:solidFill>
              <a:srgbClr val="0E749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5623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463040" y="5897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Audit,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History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377440" y="5577840"/>
            <a:ext cx="0" cy="-100584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3657600" y="5577840"/>
            <a:ext cx="2011680" cy="822960"/>
          </a:xfrm>
          <a:prstGeom prst="rect">
            <a:avLst/>
          </a:prstGeom>
          <a:solidFill>
            <a:srgbClr val="0D1F3C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749040" y="5623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pgVector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749040" y="5897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Embeddings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Index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63440" y="5577840"/>
            <a:ext cx="0" cy="-100584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5943600" y="5577840"/>
            <a:ext cx="2011680" cy="822960"/>
          </a:xfrm>
          <a:prstGeom prst="rect">
            <a:avLst/>
          </a:prstGeom>
          <a:solidFill>
            <a:srgbClr val="0D1F3C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035040" y="5623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35040" y="5897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Sessions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949440" y="5577840"/>
            <a:ext cx="0" cy="-100584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8229600" y="5577840"/>
            <a:ext cx="2011680" cy="822960"/>
          </a:xfrm>
          <a:prstGeom prst="rect">
            <a:avLst/>
          </a:prstGeom>
          <a:solidFill>
            <a:srgbClr val="0D1F3C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321040" y="5623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Keycloak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321040" y="5897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JWT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235440" y="5577840"/>
            <a:ext cx="0" cy="-10058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arrow"/>
          </a:ln>
        </p:spPr>
      </p:sp>
      <p:sp>
        <p:nvSpPr>
          <p:cNvPr id="56" name="Text 54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Folder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REPOSITORY LAYOUT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566160" cy="2514600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5661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9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mcp-servers/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prometheus-mcp/  :8001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elasticsearch-mcp/  :8002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075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loki-mcp/  :8003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kubernetes-mcp/  :8004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7157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linkedeye-db-mcp/  :8005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runbook-mcp/  :8006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0" y="960120"/>
            <a:ext cx="3566160" cy="251460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23360" y="960120"/>
            <a:ext cx="35661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069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agent/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1435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graph.py  ← LangGraph main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0" y="1755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state.py  ← QueryState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0" y="2075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nodes/  ← 6 graph nodes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mcp_client.py  ← MCP calls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0" y="27157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prompts/  ← LLM prompts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0" y="30358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config.py  ← settings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0" y="960120"/>
            <a:ext cx="4114800" cy="25146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0" y="960120"/>
            <a:ext cx="4114800" cy="640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1069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api/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63840" y="14356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main.py  ← FastAPI entry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63840" y="1755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routes/chat.py  ← WebSocket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63840" y="2075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middleware/auth.py  ← JWT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863840" y="23957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middleware/tenant.py  ← RBAC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863840" y="2715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models/  ← Pydantic schemas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63840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db/  ← PostgreSQL ORM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657600"/>
            <a:ext cx="3566160" cy="2514600"/>
          </a:xfrm>
          <a:prstGeom prst="rect">
            <a:avLst/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657600"/>
            <a:ext cx="35661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frontend/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1330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app/  ← Next.js 15 pages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44531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components/Chat/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47731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components/Grafana/  ← charts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5093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components/Datadog/  ← logs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54132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components/AIResponse/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" y="57332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lib/websocket.ts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23360" y="3657600"/>
            <a:ext cx="3566160" cy="2514600"/>
          </a:xfrm>
          <a:prstGeom prst="rect">
            <a:avLst/>
          </a:prstGeom>
          <a:solidFill>
            <a:srgbClr val="0D1F3C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023360" y="3657600"/>
            <a:ext cx="35661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0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slack-bot/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0" y="41330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bot.py  ← Slack Bolt app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114800" y="44531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handlers/message.py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114800" y="47731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handlers/chart_renderer.py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114800" y="5093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(PNG for Slack threads)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72400" y="3657600"/>
            <a:ext cx="4114800" cy="2514600"/>
          </a:xfrm>
          <a:prstGeom prst="rect">
            <a:avLst/>
          </a:prstGeom>
          <a:solidFill>
            <a:srgbClr val="0D1F3C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772400" y="3657600"/>
            <a:ext cx="411480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63840" y="3767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infra/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863840" y="41330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docker-compose.yml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863840" y="4453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docker-compose.prod.yml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863840" y="4773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helm/Chart.yaml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863840" y="50932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helm/values.yaml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863840" y="54132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nginx/nginx.conf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— ON-PREMISE DOCKER / KUBERNETES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577840" cy="5394960"/>
          </a:xfrm>
          <a:prstGeom prst="rect">
            <a:avLst/>
          </a:prstGeom>
          <a:solidFill>
            <a:srgbClr val="0D1F3C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5778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98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A — Docker Compose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99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/ Single-site MSPs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53035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783080"/>
            <a:ext cx="54864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470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 :3000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53035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212848"/>
            <a:ext cx="54864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7685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 :8000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642616"/>
            <a:ext cx="53035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642616"/>
            <a:ext cx="54864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066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prometheus-mcp  :8001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072384"/>
            <a:ext cx="53035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072384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3639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elasticsearch-mcp  :8002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502152"/>
            <a:ext cx="53035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502152"/>
            <a:ext cx="54864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661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loki-mcp  :8003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931920"/>
            <a:ext cx="53035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931920"/>
            <a:ext cx="54864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959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kubernetes-mcp  :8004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4361688"/>
            <a:ext cx="53035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361688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4256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linkedeye-db-mcp  :8005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4791456"/>
            <a:ext cx="53035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791456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8554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runbook-mcp  :8006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5221224"/>
            <a:ext cx="53035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5221224"/>
            <a:ext cx="54864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2852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slack-bot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5650992"/>
            <a:ext cx="53035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5650992"/>
            <a:ext cx="54864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7150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 :5432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960120"/>
            <a:ext cx="5760720" cy="5394960"/>
          </a:xfrm>
          <a:prstGeom prst="rect">
            <a:avLst/>
          </a:prstGeom>
          <a:solidFill>
            <a:srgbClr val="0D1F3C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960120"/>
            <a:ext cx="57607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10698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B — Helm Chart (K8s)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63640" y="1399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Multi-site MSPs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1783080"/>
            <a:ext cx="54864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1783080"/>
            <a:ext cx="54864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184708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Deployment: linkedeye-frontend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2212848"/>
            <a:ext cx="54864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63640" y="2212848"/>
            <a:ext cx="54864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227685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Deployment: linkedeye-api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63640" y="2642616"/>
            <a:ext cx="54864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2642616"/>
            <a:ext cx="54864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270662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Deployment: prometheus-mcp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63640" y="3072384"/>
            <a:ext cx="54864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63640" y="3072384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313639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Deployment: elasticsearch-mcp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63640" y="3502152"/>
            <a:ext cx="54864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63640" y="3502152"/>
            <a:ext cx="54864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35661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Deployment: loki-mcp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63640" y="3931920"/>
            <a:ext cx="54864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63640" y="3931920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399592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Deployment: runbook-mcp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63640" y="4361688"/>
            <a:ext cx="54864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63640" y="4361688"/>
            <a:ext cx="54864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442569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StatefulSet: postgres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63640" y="4791456"/>
            <a:ext cx="54864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63640" y="4791456"/>
            <a:ext cx="54864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48554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ConfigMap: mcp-endpoints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63640" y="5221224"/>
            <a:ext cx="54864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63640" y="5221224"/>
            <a:ext cx="54864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0" y="52852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Secret: api-keys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263640" y="5650992"/>
            <a:ext cx="54864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63640" y="5650992"/>
            <a:ext cx="54864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0800" y="57150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Ingress: nginx-controller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 MCP Strategy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— OPEN CONNECTORS · PROPRIETARY INTELLIGENCE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394960" cy="5349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3949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OPEN SOURCE (MIT License)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5029200" cy="548640"/>
          </a:xfrm>
          <a:prstGeom prst="rect">
            <a:avLst/>
          </a:prstGeom>
          <a:solidFill>
            <a:srgbClr val="0A1628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81328"/>
            <a:ext cx="54864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27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github.com/santhira-technologies/prometheus-mcp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7393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Universal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5029200" cy="548640"/>
          </a:xfrm>
          <a:prstGeom prst="rect">
            <a:avLst/>
          </a:prstGeom>
          <a:solidFill>
            <a:srgbClr val="0A1628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76272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219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github.com/santhira-technologies/elasticsearch-mcp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46888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Universal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5029200" cy="548640"/>
          </a:xfrm>
          <a:prstGeom prst="rect">
            <a:avLst/>
          </a:prstGeom>
          <a:solidFill>
            <a:srgbClr val="0A1628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71216"/>
            <a:ext cx="54864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1693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github.com/santhira-technologies/loki-mcp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Universal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5029200" cy="548640"/>
          </a:xfrm>
          <a:prstGeom prst="rect">
            <a:avLst/>
          </a:prstGeom>
          <a:solidFill>
            <a:srgbClr val="0A1628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66160"/>
            <a:ext cx="54864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118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github.com/santhira-technologies/kubernetes-mcp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8587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Universal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261104"/>
            <a:ext cx="5029200" cy="548640"/>
          </a:xfrm>
          <a:prstGeom prst="rect">
            <a:avLst/>
          </a:prstGeom>
          <a:solidFill>
            <a:srgbClr val="0A1628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61104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30682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github.com/santhira-technologies/snmp-network-mcp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5537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UNIQUE — Nobody has built this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956048"/>
            <a:ext cx="5029200" cy="548640"/>
          </a:xfrm>
          <a:prstGeom prst="rect">
            <a:avLst/>
          </a:prstGeom>
          <a:solidFill>
            <a:srgbClr val="0A1628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956048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0017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github.com/santhira-technologies/trading-oms-mcp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4360" y="524865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WORLD FIRST — NSE/BSE OMS logs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35040" y="960120"/>
            <a:ext cx="5852160" cy="5349240"/>
          </a:xfrm>
          <a:prstGeom prst="rect">
            <a:avLst/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960120"/>
            <a:ext cx="58521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051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 PROPRIETARY (BSL License)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1481328"/>
            <a:ext cx="5486400" cy="548640"/>
          </a:xfrm>
          <a:prstGeom prst="rect">
            <a:avLst/>
          </a:prstGeom>
          <a:solidFill>
            <a:srgbClr val="0A1628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1481328"/>
            <a:ext cx="54864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15270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Orchestrator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17739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brain — intent routing,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selection, synthesis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17920" y="2176272"/>
            <a:ext cx="5486400" cy="548640"/>
          </a:xfrm>
          <a:prstGeom prst="rect">
            <a:avLst/>
          </a:prstGeom>
          <a:solidFill>
            <a:srgbClr val="0A1628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2176272"/>
            <a:ext cx="54864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22199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Multi-Tenant Platform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246888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isolation, RBAC,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routing engine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17920" y="2871216"/>
            <a:ext cx="5486400" cy="548640"/>
          </a:xfrm>
          <a:prstGeom prst="rect">
            <a:avLst/>
          </a:prstGeom>
          <a:solidFill>
            <a:srgbClr val="0A1628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7920" y="2871216"/>
            <a:ext cx="54864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2916936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 Chart Renderer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55080" y="316382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Recharts from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data pipeline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17920" y="3566160"/>
            <a:ext cx="5486400" cy="548640"/>
          </a:xfrm>
          <a:prstGeom prst="rect">
            <a:avLst/>
          </a:prstGeom>
          <a:solidFill>
            <a:srgbClr val="0A1628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3566160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611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Datadog Log Viewer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55080" y="38587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log table with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citations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17920" y="4261104"/>
            <a:ext cx="5486400" cy="548640"/>
          </a:xfrm>
          <a:prstGeom prst="rect">
            <a:avLst/>
          </a:prstGeom>
          <a:solidFill>
            <a:srgbClr val="0A1628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4261104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430682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Trading Supervision Module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55080" y="455371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BOD/EOD AI report,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CTCL/APM intelligence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17920" y="4956048"/>
            <a:ext cx="5486400" cy="548640"/>
          </a:xfrm>
          <a:prstGeom prst="rect">
            <a:avLst/>
          </a:prstGeom>
          <a:solidFill>
            <a:srgbClr val="0A1628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17920" y="4956048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50017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+ Runbook Engine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55080" y="524865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semantic search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SOPs and runbooks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Roadmap — 8 Weeks to Launch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— SPRINT PLAN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749040" cy="2560320"/>
          </a:xfrm>
          <a:prstGeom prst="rect">
            <a:avLst/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3749040" cy="50292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15568"/>
            <a:ext cx="493776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3385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W1–2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4048" y="1280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MCP Servers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prometheus-mcp with 5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elasticsearch-mcp OMS tools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curl against real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005840"/>
            <a:ext cx="3749040" cy="2560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005840"/>
            <a:ext cx="3749040" cy="502920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1688" y="1115568"/>
            <a:ext cx="493776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13385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W3–4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361688" y="1280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Agent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 node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selector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fetcher node parallel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1005840"/>
            <a:ext cx="3749040" cy="25603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1005840"/>
            <a:ext cx="3749040" cy="502920"/>
          </a:xfrm>
          <a:prstGeom prst="rect">
            <a:avLst/>
          </a:prstGeom>
          <a:solidFill>
            <a:srgbClr val="1E40AF">
              <a:alpha val="25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9328" y="1115568"/>
            <a:ext cx="338328" cy="2011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1133856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39328" y="1280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WebSocket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6676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endpoint with streaming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6676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6676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storage in Redis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840480"/>
            <a:ext cx="3749040" cy="2560320"/>
          </a:xfrm>
          <a:prstGeom prst="rect">
            <a:avLst/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840480"/>
            <a:ext cx="3749040" cy="50292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950208"/>
            <a:ext cx="33832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968496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84048" y="4114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Chat UI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chart component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5029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log viewer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5532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badge + fix panel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51960" y="3840480"/>
            <a:ext cx="3749040" cy="2560320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251960" y="3840480"/>
            <a:ext cx="3749040" cy="50292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61688" y="3950208"/>
            <a:ext cx="33832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07408" y="3968496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W7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361688" y="4114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Loki + K8s MCP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38912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loki-mcp pod logs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89120" y="5029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kubernetes-mcp events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89120" y="5532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POD_CRASH flow end-to-end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29600" y="3840480"/>
            <a:ext cx="3749040" cy="2560320"/>
          </a:xfrm>
          <a:prstGeom prst="rect">
            <a:avLst/>
          </a:prstGeom>
          <a:solidFill>
            <a:srgbClr val="0D1F3C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29600" y="3840480"/>
            <a:ext cx="3749040" cy="50292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9328" y="3950208"/>
            <a:ext cx="33832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85048" y="3968496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W8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339328" y="4114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 Bot + Deploy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36676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Bolt integration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66760" y="5029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chart for threads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66760" y="5532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full stack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0D1F3C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47395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Week 8 Goal: Working demo on Finspot production data → First beta customer conversation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&amp; Go-To-Market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— REVENUE MODEL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749040" cy="4434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7490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₹15,000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MSPs · Up to 5 clients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34747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11480" y="2852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devices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MCP integrations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694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interface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960120"/>
            <a:ext cx="3749040" cy="4434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0" y="960120"/>
            <a:ext cx="3749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43400" y="14630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₹35,000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34340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MSPs · Up to 20 clients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2743200"/>
            <a:ext cx="34747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343400" y="2852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devices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43400" y="3273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MCP servers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3694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bot included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4340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Datadog UI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43400" y="45354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38160" y="960120"/>
            <a:ext cx="3749040" cy="4434840"/>
          </a:xfrm>
          <a:prstGeom prst="rect">
            <a:avLst/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38160" y="960120"/>
            <a:ext cx="3749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75320" y="14630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27532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MSPs · Trading Firms · GCCs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75320" y="2743200"/>
            <a:ext cx="34747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275320" y="2852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clients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75320" y="3273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option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75320" y="3694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supervision module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7532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LinkedEye ITSM upsell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75320" y="45354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5577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MILESTONES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5852160"/>
            <a:ext cx="2743200" cy="594360"/>
          </a:xfrm>
          <a:prstGeom prst="rect">
            <a:avLst/>
          </a:prstGeom>
          <a:solidFill>
            <a:srgbClr val="0D1F3C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5897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6117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₹30,000 MRR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246120" y="5852160"/>
            <a:ext cx="2743200" cy="594360"/>
          </a:xfrm>
          <a:prstGeom prst="rect">
            <a:avLst/>
          </a:prstGeom>
          <a:solidFill>
            <a:srgbClr val="0D1F3C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5897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6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337560" y="6117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₹1,50,000 MRR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17920" y="5852160"/>
            <a:ext cx="2743200" cy="594360"/>
          </a:xfrm>
          <a:prstGeom prst="rect">
            <a:avLst/>
          </a:prstGeom>
          <a:solidFill>
            <a:srgbClr val="0D1F3C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5897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9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09360" y="6117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₹3,60,000 MRR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189720" y="5852160"/>
            <a:ext cx="2743200" cy="594360"/>
          </a:xfrm>
          <a:prstGeom prst="rect">
            <a:avLst/>
          </a:prstGeom>
          <a:solidFill>
            <a:srgbClr val="0D1F3C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81160" y="5897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12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281160" y="6117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₹7,00,000 MRR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016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016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8016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8016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8016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8016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8016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8016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016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8016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024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2024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024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2024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2024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2024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2024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024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024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6032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6032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032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6032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6032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6032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6032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6032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6032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6032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6032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040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0040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0040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0040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0040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040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84048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84048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4048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84048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84048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84048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84048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84048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84048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84048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84048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84048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48056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48056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48056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48056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48056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48056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48056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48056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48056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48056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48056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48056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12064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12064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12064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12064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12064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12064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12064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2064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2064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12064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12064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12064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76072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76072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76072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76072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6072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76072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76072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76072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76072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76072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76072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76072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40080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40080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40080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40080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40080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40080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40080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0080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0080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40080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40080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40080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04088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04088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04088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04088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04088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04088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04088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04088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04088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04088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04088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04088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68096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68096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68096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68096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68096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68096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68096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68096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68096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68096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68096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68096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32104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32104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32104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32104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32104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32104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32104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32104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32104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32104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32104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96112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96112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96112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96112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96112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96112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96112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96112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96112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96112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96112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96112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60120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60120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60120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60120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60120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60120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60120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60120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60120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60120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60120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60120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24128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24128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24128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24128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24128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24128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24128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24128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24128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24128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24128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24128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88136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88136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88136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88136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88136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88136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88136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88136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88136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88136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88136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88136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152144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152144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152144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52144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152144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52144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152144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52144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52144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152144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152144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152144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2161520" y="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2161520" y="5943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2161520" y="11887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2161520" y="17830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2161520" y="23774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2161520" y="29718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2161520" y="35661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2161520" y="416052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2161520" y="475488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2161520" y="534924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2161520" y="594360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2161520" y="6537960"/>
            <a:ext cx="36576" cy="36576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65760" y="548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Next</a:t>
            </a:r>
            <a:endParaRPr lang="en-US" sz="3200" dirty="0"/>
          </a:p>
        </p:txBody>
      </p:sp>
      <p:sp>
        <p:nvSpPr>
          <p:cNvPr id="244" name="Shape 242"/>
          <p:cNvSpPr/>
          <p:nvPr/>
        </p:nvSpPr>
        <p:spPr>
          <a:xfrm>
            <a:off x="365760" y="1371600"/>
            <a:ext cx="11430000" cy="1005840"/>
          </a:xfrm>
          <a:prstGeom prst="rect">
            <a:avLst/>
          </a:prstGeom>
          <a:solidFill>
            <a:srgbClr val="0D1F3C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45" name="Shape 243"/>
          <p:cNvSpPr/>
          <p:nvPr/>
        </p:nvSpPr>
        <p:spPr>
          <a:xfrm>
            <a:off x="365760" y="1371600"/>
            <a:ext cx="73152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548640" y="143560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247" name="Text 245"/>
          <p:cNvSpPr/>
          <p:nvPr/>
        </p:nvSpPr>
        <p:spPr>
          <a:xfrm>
            <a:off x="12801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Week 1-2</a:t>
            </a:r>
            <a:endParaRPr lang="en-US" sz="1400" dirty="0"/>
          </a:p>
        </p:txBody>
      </p:sp>
      <p:sp>
        <p:nvSpPr>
          <p:cNvPr id="248" name="Text 246"/>
          <p:cNvSpPr/>
          <p:nvPr/>
        </p:nvSpPr>
        <p:spPr>
          <a:xfrm>
            <a:off x="1280160" y="1874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prometheus-mcp + elasticsearch-mcp — test with real Finspot data</a:t>
            </a:r>
            <a:endParaRPr lang="en-US" sz="1100" dirty="0"/>
          </a:p>
        </p:txBody>
      </p:sp>
      <p:sp>
        <p:nvSpPr>
          <p:cNvPr id="249" name="Shape 247"/>
          <p:cNvSpPr/>
          <p:nvPr/>
        </p:nvSpPr>
        <p:spPr>
          <a:xfrm>
            <a:off x="365760" y="2560320"/>
            <a:ext cx="11430000" cy="1005840"/>
          </a:xfrm>
          <a:prstGeom prst="rect">
            <a:avLst/>
          </a:prstGeom>
          <a:solidFill>
            <a:srgbClr val="0D1F3C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0" name="Shape 248"/>
          <p:cNvSpPr/>
          <p:nvPr/>
        </p:nvSpPr>
        <p:spPr>
          <a:xfrm>
            <a:off x="365760" y="256032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48640" y="262432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252" name="Text 250"/>
          <p:cNvSpPr/>
          <p:nvPr/>
        </p:nvSpPr>
        <p:spPr>
          <a:xfrm>
            <a:off x="128016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Source Launch</a:t>
            </a:r>
            <a:endParaRPr lang="en-US" sz="1400" dirty="0"/>
          </a:p>
        </p:txBody>
      </p:sp>
      <p:sp>
        <p:nvSpPr>
          <p:cNvPr id="253" name="Text 251"/>
          <p:cNvSpPr/>
          <p:nvPr/>
        </p:nvSpPr>
        <p:spPr>
          <a:xfrm>
            <a:off x="1280160" y="3063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snmp-network-mcp to Anthropic MCP Registry — first ever SNMP MCP server</a:t>
            </a:r>
            <a:endParaRPr lang="en-US" sz="1100" dirty="0"/>
          </a:p>
        </p:txBody>
      </p:sp>
      <p:sp>
        <p:nvSpPr>
          <p:cNvPr id="254" name="Shape 252"/>
          <p:cNvSpPr/>
          <p:nvPr/>
        </p:nvSpPr>
        <p:spPr>
          <a:xfrm>
            <a:off x="365760" y="3749040"/>
            <a:ext cx="11430000" cy="1005840"/>
          </a:xfrm>
          <a:prstGeom prst="rect">
            <a:avLst/>
          </a:prstGeom>
          <a:solidFill>
            <a:srgbClr val="0D1F3C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5" name="Shape 253"/>
          <p:cNvSpPr/>
          <p:nvPr/>
        </p:nvSpPr>
        <p:spPr>
          <a:xfrm>
            <a:off x="365760" y="374904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548640" y="381304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57" name="Text 255"/>
          <p:cNvSpPr/>
          <p:nvPr/>
        </p:nvSpPr>
        <p:spPr>
          <a:xfrm>
            <a:off x="128016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Beta Demo</a:t>
            </a:r>
            <a:endParaRPr lang="en-US" sz="1400" dirty="0"/>
          </a:p>
        </p:txBody>
      </p:sp>
      <p:sp>
        <p:nvSpPr>
          <p:cNvPr id="258" name="Text 256"/>
          <p:cNvSpPr/>
          <p:nvPr/>
        </p:nvSpPr>
        <p:spPr>
          <a:xfrm>
            <a:off x="1280160" y="4251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using Finspot production data — target 3 trading firms in Bangalore</a:t>
            </a:r>
            <a:endParaRPr lang="en-US" sz="1100" dirty="0"/>
          </a:p>
        </p:txBody>
      </p:sp>
      <p:sp>
        <p:nvSpPr>
          <p:cNvPr id="259" name="Shape 257"/>
          <p:cNvSpPr/>
          <p:nvPr/>
        </p:nvSpPr>
        <p:spPr>
          <a:xfrm>
            <a:off x="365760" y="4937760"/>
            <a:ext cx="11430000" cy="1005840"/>
          </a:xfrm>
          <a:prstGeom prst="rect">
            <a:avLst/>
          </a:prstGeom>
          <a:solidFill>
            <a:srgbClr val="0D1F3C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0" name="Shape 258"/>
          <p:cNvSpPr/>
          <p:nvPr/>
        </p:nvSpPr>
        <p:spPr>
          <a:xfrm>
            <a:off x="365760" y="4937760"/>
            <a:ext cx="7315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548640" y="500176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62" name="Text 260"/>
          <p:cNvSpPr/>
          <p:nvPr/>
        </p:nvSpPr>
        <p:spPr>
          <a:xfrm>
            <a:off x="128016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Paying Customer</a:t>
            </a:r>
            <a:endParaRPr lang="en-US" sz="1400" dirty="0"/>
          </a:p>
        </p:txBody>
      </p:sp>
      <p:sp>
        <p:nvSpPr>
          <p:cNvPr id="263" name="Text 261"/>
          <p:cNvSpPr/>
          <p:nvPr/>
        </p:nvSpPr>
        <p:spPr>
          <a:xfrm>
            <a:off x="1280160" y="54406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free pilot → paid at ₹15,000/month — Month 3 target</a:t>
            </a:r>
            <a:endParaRPr lang="en-US" sz="1100" dirty="0"/>
          </a:p>
        </p:txBody>
      </p:sp>
      <p:sp>
        <p:nvSpPr>
          <p:cNvPr id="264" name="Shape 26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D1F3C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274320" y="653796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Rajkumar A  ·  rk.madhu2026@gmail.com  ·  +91 9176772077  ·  Santhira Technologies  ·  github.com/santhira-technologies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LinkedEye AI — Product Structure &amp; Architecture</dc:title>
  <dc:subject>PptxGenJS Presentation</dc:subject>
  <dc:creator>PptxGenJS</dc:creator>
  <cp:lastModifiedBy>PptxGenJS</cp:lastModifiedBy>
  <cp:revision>1</cp:revision>
  <dcterms:created xsi:type="dcterms:W3CDTF">2026-04-24T22:44:05Z</dcterms:created>
  <dcterms:modified xsi:type="dcterms:W3CDTF">2026-04-24T22:44:05Z</dcterms:modified>
</cp:coreProperties>
</file>